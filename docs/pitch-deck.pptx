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292001"/>
            <a:ext cx="94635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26D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UNIPATH LK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40601" y="292001"/>
            <a:ext cx="5701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44401" y="749201"/>
            <a:ext cx="8419999" cy="889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3"/>
              </a:lnSpc>
              <a:buNone/>
            </a:pPr>
            <a:r>
              <a:rPr lang="en-US" sz="3100" dirty="0">
                <a:solidFill>
                  <a:srgbClr val="183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course title is only</a:t>
            </a:r>
            <a:endParaRPr lang="en-US" sz="3100" dirty="0"/>
          </a:p>
          <a:p>
            <a:pPr algn="l" indent="0" marL="0">
              <a:lnSpc>
                <a:spcPts val="3503"/>
              </a:lnSpc>
              <a:buNone/>
            </a:pPr>
            <a:r>
              <a:rPr lang="en-US" sz="3100" dirty="0">
                <a:solidFill>
                  <a:srgbClr val="183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beginning.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44401" y="1803648"/>
            <a:ext cx="777240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300"/>
              </a:spcBef>
              <a:buNone/>
            </a:pPr>
            <a:r>
              <a:rPr lang="en-US" sz="13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Post-A/L decisions connect entry rules, prior qualifications and family cash flow.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4401" y="4666357"/>
            <a:ext cx="8254901" cy="0"/>
          </a:xfrm>
          <a:prstGeom prst="line">
            <a:avLst/>
          </a:prstGeom>
          <a:noFill/>
          <a:ln w="9525">
            <a:solidFill>
              <a:srgbClr val="D5DF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4401" y="4785420"/>
            <a:ext cx="2285571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Hackathon 2026 · Local prototype · 17 October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88697" y="4785420"/>
            <a:ext cx="316816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44401" y="2412950"/>
            <a:ext cx="444401" cy="38100"/>
          </a:xfrm>
          <a:prstGeom prst="rect">
            <a:avLst/>
          </a:prstGeom>
          <a:solidFill>
            <a:srgbClr val="B7D7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44401" y="2616101"/>
            <a:ext cx="505206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1837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“Which routes can I explore,</a:t>
            </a:r>
            <a:endParaRPr lang="en-US" sz="2700" dirty="0"/>
          </a:p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1837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what must I verify?”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880050" y="2260550"/>
            <a:ext cx="2819400" cy="1905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5DFD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18175" y="2498675"/>
            <a:ext cx="239001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83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information gap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118175" y="2911376"/>
            <a:ext cx="2390013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300"/>
              </a:spcBef>
              <a:buNone/>
            </a:pPr>
            <a:r>
              <a:rPr lang="en-US" sz="1300" dirty="0">
                <a:solidFill>
                  <a:srgbClr val="183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conditions</a:t>
            </a:r>
            <a:endParaRPr lang="en-US" sz="1300" dirty="0"/>
          </a:p>
          <a:p>
            <a:pPr algn="l" indent="0" marL="0">
              <a:lnSpc>
                <a:spcPts val="1820"/>
              </a:lnSpc>
              <a:spcBef>
                <a:spcPts val="1300"/>
              </a:spcBef>
              <a:buNone/>
            </a:pPr>
            <a:r>
              <a:rPr lang="en-US" sz="1300" dirty="0">
                <a:solidFill>
                  <a:srgbClr val="183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costs</a:t>
            </a:r>
            <a:endParaRPr lang="en-US" sz="1300" dirty="0"/>
          </a:p>
          <a:p>
            <a:pPr algn="l" indent="0" marL="0">
              <a:lnSpc>
                <a:spcPts val="1820"/>
              </a:lnSpc>
              <a:spcBef>
                <a:spcPts val="1300"/>
              </a:spcBef>
              <a:buNone/>
            </a:pPr>
            <a:r>
              <a:rPr lang="en-US" sz="1300" dirty="0">
                <a:solidFill>
                  <a:srgbClr val="183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progression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4401" y="4203650"/>
            <a:ext cx="841999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3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navigator for business, law, health, arts and more.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292001"/>
            <a:ext cx="94635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26D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UNIPATH LK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583984" y="292001"/>
            <a:ext cx="11379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JOURNEY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44401" y="749201"/>
            <a:ext cx="8419999" cy="444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3"/>
              </a:lnSpc>
              <a:buNone/>
            </a:pPr>
            <a:r>
              <a:rPr lang="en-US" sz="3100" b="1" dirty="0">
                <a:solidFill>
                  <a:srgbClr val="183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student.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44401" y="1358950"/>
            <a:ext cx="777240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300"/>
              </a:spcBef>
              <a:buNone/>
            </a:pPr>
            <a:r>
              <a:rPr lang="en-US" sz="13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 Commerce student exploring accounting after A/Ls.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4401" y="4666357"/>
            <a:ext cx="8254901" cy="0"/>
          </a:xfrm>
          <a:prstGeom prst="line">
            <a:avLst/>
          </a:prstGeom>
          <a:noFill/>
          <a:ln w="9525">
            <a:solidFill>
              <a:srgbClr val="D5DF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4401" y="4785420"/>
            <a:ext cx="2285571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Hackathon 2026 · Local prototype · 17 October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88697" y="4785420"/>
            <a:ext cx="316816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44401" y="2031950"/>
            <a:ext cx="2539901" cy="2082701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5DFD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82526" y="2270075"/>
            <a:ext cx="210492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26D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PROFILE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2526" y="2574727"/>
            <a:ext cx="210492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83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field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2526" y="2974777"/>
            <a:ext cx="2104924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&amp; Finance</a:t>
            </a:r>
            <a:endParaRPr lang="en-US" sz="1300" dirty="0"/>
          </a:p>
          <a:p>
            <a:pPr algn="l" indent="0" marL="0">
              <a:lnSpc>
                <a:spcPts val="182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A/L and O/L results</a:t>
            </a:r>
            <a:endParaRPr lang="en-US" sz="1300" dirty="0"/>
          </a:p>
          <a:p>
            <a:pPr algn="l" indent="0" marL="0">
              <a:lnSpc>
                <a:spcPts val="182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and study preferences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62300" y="2031950"/>
            <a:ext cx="2628900" cy="2082701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5DFD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00425" y="2270075"/>
            <a:ext cx="219570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26D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EXPLORE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00425" y="2574727"/>
            <a:ext cx="219570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83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possible routes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00425" y="2974777"/>
            <a:ext cx="2195703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checks requirements.</a:t>
            </a:r>
            <a:endParaRPr lang="en-US" sz="1300" dirty="0"/>
          </a:p>
          <a:p>
            <a:pPr algn="l" indent="0" marL="0">
              <a:lnSpc>
                <a:spcPts val="182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and gaps stay visible.</a:t>
            </a:r>
            <a:endParaRPr lang="en-US" sz="1300" dirty="0"/>
          </a:p>
          <a:p>
            <a:pPr algn="l" indent="0" marL="0">
              <a:lnSpc>
                <a:spcPts val="182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fees remain unknown.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68901" y="2031950"/>
            <a:ext cx="2730401" cy="2082701"/>
          </a:xfrm>
          <a:prstGeom prst="roundRect">
            <a:avLst>
              <a:gd name="adj" fmla="val 4878"/>
            </a:avLst>
          </a:prstGeom>
          <a:solidFill>
            <a:srgbClr val="145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97501" y="2260550"/>
            <a:ext cx="2318665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D2E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DECIDE WHAT TO ASK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97501" y="2565202"/>
            <a:ext cx="231866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next step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97501" y="2965252"/>
            <a:ext cx="2318665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E4E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missing information.</a:t>
            </a:r>
            <a:endParaRPr lang="en-US" sz="1300" dirty="0"/>
          </a:p>
          <a:p>
            <a:pPr algn="l" indent="0" marL="0">
              <a:lnSpc>
                <a:spcPts val="182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E4E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the profile.</a:t>
            </a:r>
            <a:endParaRPr lang="en-US" sz="1300" dirty="0"/>
          </a:p>
          <a:p>
            <a:pPr algn="l" indent="0" marL="0">
              <a:lnSpc>
                <a:spcPts val="182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E4E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Re-evaluate the whole route.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4401" y="4292501"/>
            <a:ext cx="841999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follow the selected field. A programme listing is not a career or admission guarantee.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292001"/>
            <a:ext cx="94635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26D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UNIPATH LK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718102" y="292001"/>
            <a:ext cx="20211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 ARCHITECTURE &amp; BOUNDED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44401" y="749201"/>
            <a:ext cx="8419999" cy="889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3"/>
              </a:lnSpc>
              <a:buNone/>
            </a:pPr>
            <a:r>
              <a:rPr lang="en-US" sz="3100" dirty="0">
                <a:solidFill>
                  <a:srgbClr val="183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 connects the route.</a:t>
            </a:r>
            <a:endParaRPr lang="en-US" sz="3100" dirty="0"/>
          </a:p>
          <a:p>
            <a:pPr algn="l" indent="0" marL="0">
              <a:lnSpc>
                <a:spcPts val="3503"/>
              </a:lnSpc>
              <a:buNone/>
            </a:pPr>
            <a:r>
              <a:rPr lang="en-US" sz="3100" dirty="0">
                <a:solidFill>
                  <a:srgbClr val="183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retain the final say.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444401" y="4666357"/>
            <a:ext cx="8254901" cy="0"/>
          </a:xfrm>
          <a:prstGeom prst="line">
            <a:avLst/>
          </a:prstGeom>
          <a:noFill/>
          <a:ln w="9525">
            <a:solidFill>
              <a:srgbClr val="D5DF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4401" y="4785420"/>
            <a:ext cx="2285571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Hackathon 2026 · Local prototype · 17 October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388697" y="4785420"/>
            <a:ext cx="316816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44401" y="1955750"/>
            <a:ext cx="3860750" cy="850850"/>
          </a:xfrm>
          <a:prstGeom prst="roundRect">
            <a:avLst>
              <a:gd name="adj" fmla="val 11941"/>
            </a:avLst>
          </a:prstGeom>
          <a:solidFill>
            <a:srgbClr val="FFFFFF"/>
          </a:solidFill>
          <a:ln w="9525">
            <a:solidFill>
              <a:srgbClr val="D5DFD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2526" y="2193875"/>
            <a:ext cx="345219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26D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JAC GRAPH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2526" y="2498527"/>
            <a:ext cx="3452190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83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 → Offering → ProgressesTo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4401" y="2984450"/>
            <a:ext cx="3860750" cy="1155650"/>
          </a:xfrm>
          <a:prstGeom prst="roundRect">
            <a:avLst>
              <a:gd name="adj" fmla="val 8792"/>
            </a:avLst>
          </a:prstGeom>
          <a:solidFill>
            <a:srgbClr val="FFFFFF"/>
          </a:solidFill>
          <a:ln w="9525">
            <a:solidFill>
              <a:srgbClr val="D5DFD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2526" y="3222575"/>
            <a:ext cx="34521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83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BranchSearchWalker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2526" y="3584525"/>
            <a:ext cx="3452190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900"/>
              </a:spcBef>
              <a:buNone/>
            </a:pPr>
            <a:r>
              <a:rPr lang="en-US" sz="13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qualifications · cycle pruning</a:t>
            </a:r>
            <a:endParaRPr lang="en-US" sz="1300" dirty="0"/>
          </a:p>
          <a:p>
            <a:pPr algn="l" indent="0" marL="0">
              <a:lnSpc>
                <a:spcPts val="1820"/>
              </a:lnSpc>
              <a:spcBef>
                <a:spcPts val="900"/>
              </a:spcBef>
              <a:buNone/>
            </a:pPr>
            <a:r>
              <a:rPr lang="en-US" sz="13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Whole-route entry and cash-flow checks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95800" y="1955750"/>
            <a:ext cx="4203650" cy="2184350"/>
          </a:xfrm>
          <a:prstGeom prst="roundRect">
            <a:avLst>
              <a:gd name="adj" fmla="val 4651"/>
            </a:avLst>
          </a:prstGeom>
          <a:solidFill>
            <a:srgbClr val="145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24400" y="2184350"/>
            <a:ext cx="382137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D2E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byLLM DECISION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24400" y="2489002"/>
            <a:ext cx="382137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→ Evaluate → Ask / Finish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24400" y="2914352"/>
            <a:ext cx="382137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400"/>
              </a:spcBef>
              <a:buNone/>
            </a:pPr>
            <a:r>
              <a:rPr lang="en-US" sz="1300" dirty="0">
                <a:solidFill>
                  <a:srgbClr val="E4E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most four planning actions.</a:t>
            </a:r>
            <a:endParaRPr lang="en-US" sz="1300" dirty="0"/>
          </a:p>
          <a:p>
            <a:pPr algn="l" indent="0" marL="0">
              <a:lnSpc>
                <a:spcPts val="1820"/>
              </a:lnSpc>
              <a:spcBef>
                <a:spcPts val="1400"/>
              </a:spcBef>
              <a:buNone/>
            </a:pPr>
            <a:r>
              <a:rPr lang="en-US" sz="1300" dirty="0">
                <a:solidFill>
                  <a:srgbClr val="E4E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supplied fields and route IDs accepted.</a:t>
            </a:r>
            <a:endParaRPr lang="en-US" sz="1300" dirty="0"/>
          </a:p>
          <a:p>
            <a:pPr algn="l" indent="0" marL="0">
              <a:lnSpc>
                <a:spcPts val="1820"/>
              </a:lnSpc>
              <a:spcBef>
                <a:spcPts val="1400"/>
              </a:spcBef>
              <a:buNone/>
            </a:pPr>
            <a:r>
              <a:rPr lang="en-US" sz="1300" dirty="0">
                <a:solidFill>
                  <a:srgbClr val="E4E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failures preserve rule-based planning.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4401" y="4317950"/>
            <a:ext cx="841999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bounds: 4 stages · 100 states · 20 paths. Truncation is reported.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292001"/>
            <a:ext cx="94635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26D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UNIPATH LK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596485" y="292001"/>
            <a:ext cx="11251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EVIDENCE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44401" y="749201"/>
            <a:ext cx="8419999" cy="444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3"/>
              </a:lnSpc>
              <a:buNone/>
            </a:pPr>
            <a:r>
              <a:rPr lang="en-US" sz="3100" b="1" dirty="0">
                <a:solidFill>
                  <a:srgbClr val="183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belongs to each claim.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44401" y="1358950"/>
            <a:ext cx="777240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300"/>
              </a:spcBef>
              <a:buNone/>
            </a:pPr>
            <a:r>
              <a:rPr lang="en-US" sz="13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official programme page confirms a narrower fact than a complete recommendation.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4401" y="4666357"/>
            <a:ext cx="8254901" cy="0"/>
          </a:xfrm>
          <a:prstGeom prst="line">
            <a:avLst/>
          </a:prstGeom>
          <a:noFill/>
          <a:ln w="9525">
            <a:solidFill>
              <a:srgbClr val="D5DF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4401" y="4785420"/>
            <a:ext cx="2285571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Hackathon 2026 · Local prototype · 17 October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88697" y="4785420"/>
            <a:ext cx="316816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44401" y="2031950"/>
            <a:ext cx="978837" cy="554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70"/>
              </a:lnSpc>
              <a:buNone/>
            </a:pPr>
            <a:r>
              <a:rPr lang="en-US" sz="3800" b="1" dirty="0">
                <a:solidFill>
                  <a:srgbClr val="126D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44401" y="2650331"/>
            <a:ext cx="97883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500"/>
              </a:spcBef>
              <a:buNone/>
            </a:pPr>
            <a:r>
              <a:rPr lang="en-US" sz="10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programmes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64395" y="2031950"/>
            <a:ext cx="547560" cy="554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70"/>
              </a:lnSpc>
              <a:buNone/>
            </a:pPr>
            <a:r>
              <a:rPr lang="en-US" sz="3800" b="1" dirty="0">
                <a:solidFill>
                  <a:srgbClr val="126D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064395" y="2650331"/>
            <a:ext cx="54756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500"/>
              </a:spcBef>
              <a:buNone/>
            </a:pPr>
            <a:r>
              <a:rPr lang="en-US" sz="10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61568" y="2031950"/>
            <a:ext cx="611925" cy="554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70"/>
              </a:lnSpc>
              <a:buNone/>
            </a:pPr>
            <a:r>
              <a:rPr lang="en-US" sz="3800" b="1" dirty="0">
                <a:solidFill>
                  <a:srgbClr val="126D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261568" y="2650331"/>
            <a:ext cx="611925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500"/>
              </a:spcBef>
              <a:buNone/>
            </a:pPr>
            <a:r>
              <a:rPr lang="en-US" sz="10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21845" y="2031950"/>
            <a:ext cx="1440019" cy="554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70"/>
              </a:lnSpc>
              <a:buNone/>
            </a:pPr>
            <a:r>
              <a:rPr lang="en-US" sz="3800" b="1" dirty="0">
                <a:solidFill>
                  <a:srgbClr val="126D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521845" y="2650331"/>
            <a:ext cx="144001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500"/>
              </a:spcBef>
              <a:buNone/>
            </a:pPr>
            <a:r>
              <a:rPr lang="en-US" sz="10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sourced application edge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4401" y="3187601"/>
            <a:ext cx="395086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83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≠ admission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4401" y="3536752"/>
            <a:ext cx="395086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Fees, intake, recognition and progression</a:t>
            </a:r>
            <a:endParaRPr lang="en-US" sz="1300" dirty="0"/>
          </a:p>
          <a:p>
            <a:pPr algn="l" indent="0" marL="0">
              <a:lnSpc>
                <a:spcPts val="1820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separate sources and statuses.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95800" y="3086100"/>
            <a:ext cx="4203650" cy="1257300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9525">
            <a:solidFill>
              <a:srgbClr val="D5DFD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33925" y="3324225"/>
            <a:ext cx="380194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83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supported real route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33925" y="3686175"/>
            <a:ext cx="380194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900"/>
              </a:spcBef>
              <a:buNone/>
            </a:pPr>
            <a:r>
              <a:rPr lang="en-US" sz="1300" dirty="0">
                <a:solidFill>
                  <a:srgbClr val="183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OUSL English diploma → BA English &amp; ELT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33925" y="4006007"/>
            <a:ext cx="3801948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700"/>
              </a:spcBef>
              <a:buNone/>
            </a:pPr>
            <a:r>
              <a:rPr lang="en-US" sz="10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route only. No automatic admission</a:t>
            </a:r>
            <a:endParaRPr lang="en-US" sz="1000" dirty="0"/>
          </a:p>
          <a:p>
            <a:pPr algn="l" indent="0" marL="0">
              <a:lnSpc>
                <a:spcPts val="1400"/>
              </a:lnSpc>
              <a:spcBef>
                <a:spcPts val="700"/>
              </a:spcBef>
              <a:buNone/>
            </a:pPr>
            <a:r>
              <a:rPr lang="en-US" sz="10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shortened degree is asserted.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4401" y="4381500"/>
            <a:ext cx="841999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discovery sample · Unknown real costs stay null · Claim links appear in the app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292001"/>
            <a:ext cx="94635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26D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UNIPATH LK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703219" y="292001"/>
            <a:ext cx="20363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CHECKS &amp; LIMITATIONS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44401" y="749201"/>
            <a:ext cx="8419999" cy="889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3"/>
              </a:lnSpc>
              <a:buNone/>
            </a:pPr>
            <a:r>
              <a:rPr lang="en-US" sz="3100" dirty="0">
                <a:solidFill>
                  <a:srgbClr val="183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calculation.</a:t>
            </a:r>
            <a:endParaRPr lang="en-US" sz="3100" dirty="0"/>
          </a:p>
          <a:p>
            <a:pPr algn="l" indent="0" marL="0">
              <a:lnSpc>
                <a:spcPts val="3503"/>
              </a:lnSpc>
              <a:buNone/>
            </a:pPr>
            <a:r>
              <a:rPr lang="en-US" sz="3100" dirty="0">
                <a:solidFill>
                  <a:srgbClr val="183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the assumptions.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444401" y="4666357"/>
            <a:ext cx="8254901" cy="0"/>
          </a:xfrm>
          <a:prstGeom prst="line">
            <a:avLst/>
          </a:prstGeom>
          <a:noFill/>
          <a:ln w="9525">
            <a:solidFill>
              <a:srgbClr val="D5DF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4401" y="4785420"/>
            <a:ext cx="2285571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Hackathon 2026 · Local prototype · 17 October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388697" y="4785420"/>
            <a:ext cx="316816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44401" y="1955750"/>
            <a:ext cx="4737050" cy="2311301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9525">
            <a:solidFill>
              <a:srgbClr val="D5DFD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2526" y="2193875"/>
            <a:ext cx="434601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26D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FINANCIAL ORACLE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2526" y="2498527"/>
            <a:ext cx="434601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LKR 2,000 · Monthly budget LKR 5,000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2526" y="2866727"/>
            <a:ext cx="34565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83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25652" y="2866727"/>
            <a:ext cx="936028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83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/ Initial gap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2526" y="3150691"/>
            <a:ext cx="4260800" cy="0"/>
          </a:xfrm>
          <a:prstGeom prst="line">
            <a:avLst/>
          </a:prstGeom>
          <a:noFill/>
          <a:ln w="9525">
            <a:solidFill>
              <a:srgbClr val="D5DF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2526" y="3269754"/>
            <a:ext cx="43977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3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95861" y="3269754"/>
            <a:ext cx="117041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83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84,000 / 22,000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2526" y="3627686"/>
            <a:ext cx="98278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3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stages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09008" y="3627686"/>
            <a:ext cx="74900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83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54,000 / 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2526" y="4011067"/>
            <a:ext cx="434601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1200"/>
              </a:spcBef>
              <a:buNone/>
            </a:pPr>
            <a:r>
              <a:rPr lang="en-US" sz="10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LKR · 12-month fixture routes; progression/relocation conditions apply.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0" y="1981200"/>
            <a:ext cx="3277311" cy="554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70"/>
              </a:lnSpc>
              <a:buNone/>
            </a:pPr>
            <a:r>
              <a:rPr lang="en-US" sz="3800" b="1" dirty="0">
                <a:solidFill>
                  <a:srgbClr val="126D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4.89 s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5486400" y="2599581"/>
            <a:ext cx="3277311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500"/>
              </a:spcBef>
              <a:buNone/>
            </a:pPr>
            <a:r>
              <a:rPr lang="en-US" sz="10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earlier genuine Gemini smoke request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0" y="3009900"/>
            <a:ext cx="327731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83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Checks, with clear limits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0" y="3371850"/>
            <a:ext cx="3277311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900"/>
              </a:spcBef>
              <a:buNone/>
            </a:pPr>
            <a:r>
              <a:rPr lang="en-US" sz="10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Jac + HTTP regressions passed.</a:t>
            </a:r>
            <a:endParaRPr lang="en-US" sz="1000" dirty="0"/>
          </a:p>
          <a:p>
            <a:pPr algn="l" indent="0" marL="0">
              <a:lnSpc>
                <a:spcPts val="1400"/>
              </a:lnSpc>
              <a:spcBef>
                <a:spcPts val="900"/>
              </a:spcBef>
              <a:buNone/>
            </a:pPr>
            <a:r>
              <a:rPr lang="en-US" sz="10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browser QA completed.</a:t>
            </a:r>
            <a:endParaRPr lang="en-US" sz="1000" dirty="0"/>
          </a:p>
          <a:p>
            <a:pPr algn="l" indent="0" marL="0">
              <a:lnSpc>
                <a:spcPts val="1400"/>
              </a:lnSpc>
              <a:spcBef>
                <a:spcPts val="900"/>
              </a:spcBef>
              <a:buNone/>
            </a:pPr>
            <a:r>
              <a:rPr lang="en-US" sz="10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source audit remains pending.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4401" y="4330601"/>
            <a:ext cx="841999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affordability is unconfirmed. One live request is not a latency or quality guarantee.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292001"/>
            <a:ext cx="94635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26D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UNIPATH LK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713637" y="292001"/>
            <a:ext cx="20256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/ REPOSITORY / NEXT STEPS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44401" y="749201"/>
            <a:ext cx="8419999" cy="1334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3"/>
              </a:lnSpc>
              <a:buNone/>
            </a:pPr>
            <a:r>
              <a:rPr lang="en-US" sz="3100" dirty="0">
                <a:solidFill>
                  <a:srgbClr val="183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possible route.</a:t>
            </a:r>
            <a:endParaRPr lang="en-US" sz="3100" dirty="0"/>
          </a:p>
          <a:p>
            <a:pPr algn="l" indent="0" marL="0">
              <a:lnSpc>
                <a:spcPts val="3503"/>
              </a:lnSpc>
              <a:buNone/>
            </a:pPr>
            <a:r>
              <a:rPr lang="en-US" sz="3100" dirty="0">
                <a:solidFill>
                  <a:srgbClr val="183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visible condition.</a:t>
            </a:r>
            <a:endParaRPr lang="en-US" sz="3100" dirty="0"/>
          </a:p>
          <a:p>
            <a:pPr algn="l" indent="0" marL="0">
              <a:lnSpc>
                <a:spcPts val="3503"/>
              </a:lnSpc>
              <a:buNone/>
            </a:pPr>
            <a:r>
              <a:rPr lang="en-US" sz="3100" dirty="0">
                <a:solidFill>
                  <a:srgbClr val="183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better next question.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444401" y="4666357"/>
            <a:ext cx="8254901" cy="0"/>
          </a:xfrm>
          <a:prstGeom prst="line">
            <a:avLst/>
          </a:prstGeom>
          <a:noFill/>
          <a:ln w="9525">
            <a:solidFill>
              <a:srgbClr val="D5DF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4401" y="4785420"/>
            <a:ext cx="2285571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Hackathon 2026 · Local prototype · 17 October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388697" y="4785420"/>
            <a:ext cx="316816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44401" y="2476500"/>
            <a:ext cx="408051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26D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4401" y="2781151"/>
            <a:ext cx="4080510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3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business discovery → claim sources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3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multi-stage cash-flow example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3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AI activity and server rule checks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13250" y="2412950"/>
            <a:ext cx="3886200" cy="1777901"/>
          </a:xfrm>
          <a:prstGeom prst="roundRect">
            <a:avLst>
              <a:gd name="adj" fmla="val 5715"/>
            </a:avLst>
          </a:prstGeom>
          <a:solidFill>
            <a:srgbClr val="FFFFFF"/>
          </a:solidFill>
          <a:ln w="9525">
            <a:solidFill>
              <a:srgbClr val="D5DFD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51375" y="2651075"/>
            <a:ext cx="347814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26D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51375" y="2955727"/>
            <a:ext cx="347814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3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final Jac source audit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3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deployment and final links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3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reviewed fee and entry coverage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4401" y="4089350"/>
            <a:ext cx="388620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· final access check pending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4401" y="4343251"/>
            <a:ext cx="388620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126D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github.com/madukamalruk/AI-Hackathon-2026-V1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13250" y="4343400"/>
            <a:ext cx="396392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9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prototype · Deployment pending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UniPath LK — post-A/L pathway discovery</dc:title>
  <dc:subject>Working prototype, evidence and limitations</dc:subject>
  <dc:creator>UniPath LK</dc:creator>
  <cp:lastModifiedBy>UniPath LK</cp:lastModifiedBy>
  <cp:revision>1</cp:revision>
  <dcterms:created xsi:type="dcterms:W3CDTF">2026-10-17T07:20:21Z</dcterms:created>
  <dcterms:modified xsi:type="dcterms:W3CDTF">2026-10-17T07:20:21Z</dcterms:modified>
</cp:coreProperties>
</file>